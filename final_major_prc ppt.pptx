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399" r:id="rId4"/>
    <p:sldId id="400" r:id="rId5"/>
    <p:sldId id="258" r:id="rId6"/>
    <p:sldId id="259" r:id="rId7"/>
    <p:sldId id="375" r:id="rId8"/>
    <p:sldId id="376" r:id="rId9"/>
    <p:sldId id="396" r:id="rId10"/>
    <p:sldId id="392" r:id="rId11"/>
    <p:sldId id="268" r:id="rId12"/>
    <p:sldId id="430" r:id="rId13"/>
    <p:sldId id="429" r:id="rId14"/>
    <p:sldId id="407" r:id="rId15"/>
    <p:sldId id="432" r:id="rId16"/>
    <p:sldId id="431" r:id="rId17"/>
    <p:sldId id="387" r:id="rId18"/>
    <p:sldId id="383" r:id="rId19"/>
    <p:sldId id="290" r:id="rId20"/>
    <p:sldId id="28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61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endParaRP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endParaRP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endParaRP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pPr algn="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a:lnSpc>
                <a:spcPct val="100000"/>
              </a:lnSpc>
            </a:pPr>
            <a:fld id="{11216171-A131-4111-8101-11D1D10191D1}" type="slidenum">
              <a:rPr lang="en-IN">
                <a:solidFill>
                  <a:srgbClr val="000000"/>
                </a:solidFill>
                <a:latin typeface="+mn-lt"/>
                <a:ea typeface="+mn-ea"/>
              </a:rPr>
              <a:pPr>
                <a:lnSpc>
                  <a:spcPct val="100000"/>
                </a:lnSpc>
              </a:pPr>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p:nvPr>
        </p:nvSpPr>
        <p:spPr/>
        <p:txBody>
          <a:bodyPr/>
          <a:lstStyle/>
          <a:p>
            <a:pPr algn="r"/>
            <a:fld id="{51811100-C181-4161-81E1-C1B1D191B141}" type="slidenum">
              <a:rPr lang="en-IN" smtClean="0"/>
              <a:pPr algn="r"/>
              <a:t>4</a:t>
            </a:fld>
            <a:endParaRPr lang="en-IN"/>
          </a:p>
        </p:txBody>
      </p:sp>
    </p:spTree>
    <p:extLst>
      <p:ext uri="{BB962C8B-B14F-4D97-AF65-F5344CB8AC3E}">
        <p14:creationId xmlns:p14="http://schemas.microsoft.com/office/powerpoint/2010/main" val="366000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pPr>
                <a:lnSpc>
                  <a:spcPct val="100000"/>
                </a:lnSpc>
              </a:p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pPr>
                <a:lnSpc>
                  <a:spcPct val="100000"/>
                </a:lnSpc>
              </a:p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11</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13</a:t>
            </a:fld>
            <a:endParaRPr/>
          </a:p>
        </p:txBody>
      </p:sp>
    </p:spTree>
    <p:extLst>
      <p:ext uri="{BB962C8B-B14F-4D97-AF65-F5344CB8AC3E}">
        <p14:creationId xmlns:p14="http://schemas.microsoft.com/office/powerpoint/2010/main" val="99667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journals.plos.org/plosone/article?id=10.1371/journal.pone.0260560" TargetMode="External"/><Relationship Id="rId2" Type="http://schemas.openxmlformats.org/officeDocument/2006/relationships/hyperlink" Target="https://www.mdpi.com/2075-4418/13/4/652"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5437" y="1582904"/>
            <a:ext cx="9144000" cy="1031051"/>
          </a:xfrm>
          <a:prstGeom prst="rect">
            <a:avLst/>
          </a:prstGeom>
          <a:noFill/>
        </p:spPr>
        <p:txBody>
          <a:bodyPr wrap="square" rtlCol="0">
            <a:spAutoFit/>
          </a:bodyPr>
          <a:lstStyle/>
          <a:p>
            <a:pPr algn="ctr"/>
            <a:r>
              <a:rPr lang="en-US" sz="2800" b="1" dirty="0">
                <a:effectLst/>
                <a:latin typeface="Times New Roman" panose="02020603050405020304" pitchFamily="18" charset="0"/>
                <a:ea typeface="Times New Roman" panose="02020603050405020304" pitchFamily="18" charset="0"/>
              </a:rPr>
              <a:t>Intracranial </a:t>
            </a:r>
            <a:r>
              <a:rPr lang="en-US" sz="2800" b="1" dirty="0" err="1">
                <a:effectLst/>
                <a:latin typeface="Times New Roman" panose="02020603050405020304" pitchFamily="18" charset="0"/>
                <a:ea typeface="Times New Roman" panose="02020603050405020304" pitchFamily="18" charset="0"/>
              </a:rPr>
              <a:t>Haemorrhage</a:t>
            </a:r>
            <a:r>
              <a:rPr lang="en-US" sz="2800" b="1" dirty="0">
                <a:effectLst/>
                <a:latin typeface="Times New Roman" panose="02020603050405020304" pitchFamily="18" charset="0"/>
                <a:ea typeface="Times New Roman" panose="02020603050405020304" pitchFamily="18" charset="0"/>
              </a:rPr>
              <a:t> </a:t>
            </a:r>
            <a:r>
              <a:rPr lang="en-US" sz="2800" b="1" dirty="0">
                <a:latin typeface="Times New Roman" panose="02020603050405020304" pitchFamily="18" charset="0"/>
                <a:ea typeface="Times New Roman" panose="02020603050405020304" pitchFamily="18" charset="0"/>
              </a:rPr>
              <a:t>D</a:t>
            </a:r>
            <a:r>
              <a:rPr lang="en-US" sz="2800" b="1" dirty="0">
                <a:effectLst/>
                <a:latin typeface="Times New Roman" panose="02020603050405020304" pitchFamily="18" charset="0"/>
                <a:ea typeface="Times New Roman" panose="02020603050405020304" pitchFamily="18" charset="0"/>
              </a:rPr>
              <a:t>etection</a:t>
            </a:r>
            <a:endParaRPr lang="en-IN" sz="2800" b="1" dirty="0">
              <a:effectLst/>
              <a:latin typeface="Times New Roman" panose="02020603050405020304" pitchFamily="18" charset="0"/>
              <a:ea typeface="Times New Roman" panose="02020603050405020304" pitchFamily="18" charset="0"/>
            </a:endParaRPr>
          </a:p>
          <a:p>
            <a:pPr algn="ctr"/>
            <a:endParaRPr lang="en-US" sz="3300" b="1" dirty="0">
              <a:ln w="1905"/>
              <a:effectLst>
                <a:innerShdw blurRad="69850" dist="43180" dir="5400000">
                  <a:srgbClr val="000000">
                    <a:alpha val="65000"/>
                  </a:srgbClr>
                </a:innerShdw>
              </a:effectLst>
            </a:endParaRPr>
          </a:p>
        </p:txBody>
      </p:sp>
      <p:sp>
        <p:nvSpPr>
          <p:cNvPr id="3" name="TextBox 2"/>
          <p:cNvSpPr txBox="1"/>
          <p:nvPr/>
        </p:nvSpPr>
        <p:spPr>
          <a:xfrm>
            <a:off x="5337175" y="2743200"/>
            <a:ext cx="5029200" cy="1200329"/>
          </a:xfrm>
          <a:prstGeom prst="rect">
            <a:avLst/>
          </a:prstGeom>
          <a:noFill/>
        </p:spPr>
        <p:txBody>
          <a:bodyPr wrap="square" rtlCol="0">
            <a:spAutoFit/>
          </a:bodyPr>
          <a:lstStyle/>
          <a:p>
            <a:r>
              <a:rPr lang="en-US" b="1" dirty="0">
                <a:solidFill>
                  <a:schemeClr val="tx2">
                    <a:lumMod val="75000"/>
                  </a:schemeClr>
                </a:solidFill>
              </a:rPr>
              <a:t>Name of the student:  </a:t>
            </a:r>
          </a:p>
          <a:p>
            <a:r>
              <a:rPr lang="en-US" b="1" dirty="0">
                <a:solidFill>
                  <a:schemeClr val="tx2">
                    <a:lumMod val="75000"/>
                  </a:schemeClr>
                </a:solidFill>
              </a:rPr>
              <a:t>K. Sai Puneeth     (20H51A0596)</a:t>
            </a:r>
            <a:br>
              <a:rPr lang="en-US" b="1" dirty="0">
                <a:solidFill>
                  <a:schemeClr val="tx2">
                    <a:lumMod val="75000"/>
                  </a:schemeClr>
                </a:solidFill>
              </a:rPr>
            </a:br>
            <a:r>
              <a:rPr lang="en-US" b="1" dirty="0" err="1">
                <a:solidFill>
                  <a:schemeClr val="tx2">
                    <a:lumMod val="75000"/>
                  </a:schemeClr>
                </a:solidFill>
              </a:rPr>
              <a:t>B.Vishwani</a:t>
            </a:r>
            <a:r>
              <a:rPr lang="en-US" b="1" dirty="0">
                <a:solidFill>
                  <a:schemeClr val="tx2">
                    <a:lumMod val="75000"/>
                  </a:schemeClr>
                </a:solidFill>
              </a:rPr>
              <a:t>           (20H51A05B3)</a:t>
            </a:r>
            <a:br>
              <a:rPr lang="en-US" b="1" dirty="0">
                <a:solidFill>
                  <a:schemeClr val="tx2">
                    <a:lumMod val="75000"/>
                  </a:schemeClr>
                </a:solidFill>
              </a:rPr>
            </a:br>
            <a:r>
              <a:rPr lang="en-US" b="1" dirty="0" err="1">
                <a:solidFill>
                  <a:schemeClr val="tx2">
                    <a:lumMod val="75000"/>
                  </a:schemeClr>
                </a:solidFill>
              </a:rPr>
              <a:t>U.Anwesh</a:t>
            </a:r>
            <a:r>
              <a:rPr lang="en-US" b="1" dirty="0">
                <a:solidFill>
                  <a:schemeClr val="tx2">
                    <a:lumMod val="75000"/>
                  </a:schemeClr>
                </a:solidFill>
              </a:rPr>
              <a:t>             (20H51A05J8)</a:t>
            </a:r>
          </a:p>
        </p:txBody>
      </p:sp>
      <p:sp>
        <p:nvSpPr>
          <p:cNvPr id="4" name="TextBox 3"/>
          <p:cNvSpPr txBox="1"/>
          <p:nvPr/>
        </p:nvSpPr>
        <p:spPr>
          <a:xfrm>
            <a:off x="155575" y="4469249"/>
            <a:ext cx="5181600" cy="1169551"/>
          </a:xfrm>
          <a:prstGeom prst="rect">
            <a:avLst/>
          </a:prstGeom>
          <a:noFill/>
        </p:spPr>
        <p:txBody>
          <a:bodyPr wrap="square" rtlCol="0">
            <a:spAutoFit/>
          </a:bodyPr>
          <a:lstStyle/>
          <a:p>
            <a:pPr marR="64008" lvl="0">
              <a:lnSpc>
                <a:spcPct val="150000"/>
              </a:lnSpc>
              <a:spcBef>
                <a:spcPts val="400"/>
              </a:spcBef>
              <a:buClr>
                <a:schemeClr val="accent1"/>
              </a:buClr>
              <a:buSzPct val="68000"/>
              <a:defRPr/>
            </a:pPr>
            <a:r>
              <a:rPr lang="en-US" sz="2000" b="1" dirty="0">
                <a:solidFill>
                  <a:srgbClr val="C00000"/>
                </a:solidFill>
              </a:rPr>
              <a:t>Under esteemed guidance of</a:t>
            </a:r>
          </a:p>
          <a:p>
            <a:r>
              <a:rPr lang="en-US" sz="2000" b="1" dirty="0"/>
              <a:t>Guide Name</a:t>
            </a:r>
          </a:p>
          <a:p>
            <a:r>
              <a:rPr lang="en-US" sz="2000" b="1" dirty="0"/>
              <a:t>Mr. M. Shiva Kumar</a:t>
            </a:r>
          </a:p>
        </p:txBody>
      </p:sp>
      <p:graphicFrame>
        <p:nvGraphicFramePr>
          <p:cNvPr id="5" name="Table 4"/>
          <p:cNvGraphicFramePr>
            <a:graphicFrameLocks noGrp="1"/>
          </p:cNvGraphicFramePr>
          <p:nvPr>
            <p:extLst>
              <p:ext uri="{D42A27DB-BD31-4B8C-83A1-F6EECF244321}">
                <p14:modId xmlns:p14="http://schemas.microsoft.com/office/powerpoint/2010/main" val="379951770"/>
              </p:ext>
            </p:extLst>
          </p:nvPr>
        </p:nvGraphicFramePr>
        <p:xfrm>
          <a:off x="1524000" y="228600"/>
          <a:ext cx="7010400" cy="951198"/>
        </p:xfrm>
        <a:graphic>
          <a:graphicData uri="http://schemas.openxmlformats.org/drawingml/2006/table">
            <a:tbl>
              <a:tblPr>
                <a:tableStyleId>{2D5ABB26-0587-4C30-8999-92F81FD0307C}</a:tableStyleId>
              </a:tblPr>
              <a:tblGrid>
                <a:gridCol w="7010400">
                  <a:extLst>
                    <a:ext uri="{9D8B030D-6E8A-4147-A177-3AD203B41FA5}">
                      <a16:colId xmlns:a16="http://schemas.microsoft.com/office/drawing/2014/main" val="20000"/>
                    </a:ext>
                  </a:extLst>
                </a:gridCol>
              </a:tblGrid>
              <a:tr h="80953">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a:endParaRPr>
                    </a:p>
                  </a:txBody>
                  <a:tcPr marL="9199" marR="9199" marT="6133" marB="6133" anchor="b"/>
                </a:tc>
                <a:extLst>
                  <a:ext uri="{0D108BD9-81ED-4DB2-BD59-A6C34878D82A}">
                    <a16:rowId xmlns:a16="http://schemas.microsoft.com/office/drawing/2014/main" val="10000"/>
                  </a:ext>
                </a:extLst>
              </a:tr>
              <a:tr h="80953">
                <a:tc>
                  <a:txBody>
                    <a:bodyPr/>
                    <a:lstStyle/>
                    <a:p>
                      <a:pPr algn="ctr" rtl="0" fontAlgn="b"/>
                      <a:r>
                        <a:rPr lang="en-US" sz="2000" dirty="0" err="1">
                          <a:solidFill>
                            <a:srgbClr val="002060"/>
                          </a:solidFill>
                        </a:rPr>
                        <a:t>Kandlakoya</a:t>
                      </a:r>
                      <a:r>
                        <a:rPr lang="en-US" sz="2000" dirty="0">
                          <a:solidFill>
                            <a:srgbClr val="002060"/>
                          </a:solidFill>
                        </a:rPr>
                        <a:t>, </a:t>
                      </a:r>
                      <a:r>
                        <a:rPr lang="en-US" sz="2000" dirty="0" err="1">
                          <a:solidFill>
                            <a:srgbClr val="002060"/>
                          </a:solidFill>
                        </a:rPr>
                        <a:t>Medchal</a:t>
                      </a:r>
                      <a:r>
                        <a:rPr lang="en-US" sz="2000" dirty="0">
                          <a:solidFill>
                            <a:srgbClr val="002060"/>
                          </a:solidFill>
                        </a:rPr>
                        <a:t>, Hyderabad - 501401</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1"/>
                  </a:ext>
                </a:extLst>
              </a:tr>
              <a:tr h="80953">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1524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4DFFA99E-F018-8D26-1DF7-316E0E020E5A}"/>
              </a:ext>
            </a:extLst>
          </p:cNvPr>
          <p:cNvSpPr txBox="1"/>
          <p:nvPr/>
        </p:nvSpPr>
        <p:spPr>
          <a:xfrm>
            <a:off x="337792" y="2743200"/>
            <a:ext cx="5029200" cy="400110"/>
          </a:xfrm>
          <a:prstGeom prst="rect">
            <a:avLst/>
          </a:prstGeom>
          <a:noFill/>
        </p:spPr>
        <p:txBody>
          <a:bodyPr wrap="square" rtlCol="0">
            <a:spAutoFit/>
          </a:bodyPr>
          <a:lstStyle/>
          <a:p>
            <a:r>
              <a:rPr lang="en-US" sz="2000" b="1" dirty="0">
                <a:solidFill>
                  <a:schemeClr val="tx2">
                    <a:lumMod val="75000"/>
                  </a:schemeClr>
                </a:solidFill>
              </a:rPr>
              <a:t>Batch No.:23</a:t>
            </a:r>
          </a:p>
        </p:txBody>
      </p:sp>
      <p:sp>
        <p:nvSpPr>
          <p:cNvPr id="7" name="TextBox 6">
            <a:extLst>
              <a:ext uri="{FF2B5EF4-FFF2-40B4-BE49-F238E27FC236}">
                <a16:creationId xmlns:a16="http://schemas.microsoft.com/office/drawing/2014/main" id="{94997AF8-6B6E-040B-FF07-B099985FAFAE}"/>
              </a:ext>
            </a:extLst>
          </p:cNvPr>
          <p:cNvSpPr txBox="1"/>
          <p:nvPr/>
        </p:nvSpPr>
        <p:spPr>
          <a:xfrm>
            <a:off x="238539" y="6229290"/>
            <a:ext cx="8753061" cy="307777"/>
          </a:xfrm>
          <a:prstGeom prst="rect">
            <a:avLst/>
          </a:prstGeom>
          <a:noFill/>
        </p:spPr>
        <p:txBody>
          <a:bodyPr wrap="square" rtlCol="0">
            <a:spAutoFit/>
          </a:bodyPr>
          <a:lstStyle/>
          <a:p>
            <a:r>
              <a:rPr lang="en-US" sz="1400" b="1" dirty="0">
                <a:solidFill>
                  <a:schemeClr val="tx2">
                    <a:lumMod val="75000"/>
                  </a:schemeClr>
                </a:solidFill>
              </a:rPr>
              <a:t>Batch: 2020-2024 			                                                             Major Project Phase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44" name="CustomShape 2"/>
          <p:cNvSpPr/>
          <p:nvPr/>
        </p:nvSpPr>
        <p:spPr>
          <a:xfrm>
            <a:off x="457200" y="45720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a:rPr>
              <a:t>Outline</a:t>
            </a:r>
            <a:endParaRPr>
              <a:solidFill>
                <a:srgbClr val="C00000"/>
              </a:solidFill>
            </a:endParaRPr>
          </a:p>
        </p:txBody>
      </p:sp>
      <p:sp>
        <p:nvSpPr>
          <p:cNvPr id="45" name="CustomShape 3"/>
          <p:cNvSpPr/>
          <p:nvPr/>
        </p:nvSpPr>
        <p:spPr>
          <a:xfrm>
            <a:off x="914400" y="1639740"/>
            <a:ext cx="6477000" cy="4456260"/>
          </a:xfrm>
          <a:prstGeom prst="rect">
            <a:avLst/>
          </a:prstGeom>
        </p:spPr>
        <p:txBody>
          <a:bodyPr lIns="90000" tIns="45000" rIns="90000" bIns="45000"/>
          <a:lstStyle/>
          <a:p>
            <a:pPr>
              <a:lnSpc>
                <a:spcPct val="150000"/>
              </a:lnSpc>
              <a:buFont typeface="Arial" pitchFamily="34" charset="0"/>
              <a:buChar char="•"/>
            </a:pPr>
            <a:r>
              <a:rPr lang="en-IN" sz="2000" b="1" dirty="0">
                <a:solidFill>
                  <a:srgbClr val="000000"/>
                </a:solidFill>
                <a:latin typeface="Bookman Old Style" pitchFamily="18" charset="0"/>
              </a:rPr>
              <a:t> Abstract </a:t>
            </a:r>
          </a:p>
          <a:p>
            <a:pPr>
              <a:lnSpc>
                <a:spcPct val="150000"/>
              </a:lnSpc>
              <a:buFont typeface="Arial" pitchFamily="34" charset="0"/>
              <a:buChar char="•"/>
            </a:pPr>
            <a:r>
              <a:rPr lang="en-IN" sz="2000" b="1" dirty="0">
                <a:solidFill>
                  <a:srgbClr val="000000"/>
                </a:solidFill>
                <a:latin typeface="Bookman Old Style" pitchFamily="18" charset="0"/>
              </a:rPr>
              <a:t> Introduction </a:t>
            </a:r>
          </a:p>
          <a:p>
            <a:pPr>
              <a:lnSpc>
                <a:spcPct val="150000"/>
              </a:lnSpc>
              <a:buFont typeface="Arial"/>
              <a:buChar char="•"/>
            </a:pPr>
            <a:r>
              <a:rPr lang="en-IN" sz="2000" b="1" dirty="0">
                <a:solidFill>
                  <a:srgbClr val="000000"/>
                </a:solidFill>
                <a:latin typeface="Bookman Old Style" pitchFamily="18" charset="0"/>
              </a:rPr>
              <a:t> Research Objective </a:t>
            </a:r>
          </a:p>
          <a:p>
            <a:pPr>
              <a:lnSpc>
                <a:spcPct val="150000"/>
              </a:lnSpc>
              <a:buFont typeface="Arial" pitchFamily="34" charset="0"/>
              <a:buChar char="•"/>
            </a:pPr>
            <a:r>
              <a:rPr lang="en-IN" sz="2000" b="1" dirty="0">
                <a:solidFill>
                  <a:srgbClr val="000000"/>
                </a:solidFill>
                <a:latin typeface="Bookman Old Style" pitchFamily="18" charset="0"/>
              </a:rPr>
              <a:t> Problem Definition</a:t>
            </a:r>
          </a:p>
          <a:p>
            <a:pPr>
              <a:lnSpc>
                <a:spcPct val="150000"/>
              </a:lnSpc>
              <a:buFont typeface="Arial" pitchFamily="34" charset="0"/>
              <a:buChar char="•"/>
            </a:pPr>
            <a:r>
              <a:rPr lang="en-IN" sz="2000" b="1" dirty="0">
                <a:solidFill>
                  <a:srgbClr val="000000"/>
                </a:solidFill>
                <a:latin typeface="Bookman Old Style" pitchFamily="18" charset="0"/>
              </a:rPr>
              <a:t> Scope of the Project</a:t>
            </a:r>
          </a:p>
          <a:p>
            <a:pPr>
              <a:lnSpc>
                <a:spcPct val="150000"/>
              </a:lnSpc>
              <a:buFont typeface="Arial" pitchFamily="34" charset="0"/>
              <a:buChar char="•"/>
            </a:pPr>
            <a:r>
              <a:rPr lang="en-IN" sz="2000" b="1" dirty="0">
                <a:solidFill>
                  <a:srgbClr val="000000"/>
                </a:solidFill>
                <a:latin typeface="Bookman Old Style" pitchFamily="18" charset="0"/>
              </a:rPr>
              <a:t> Literature Review</a:t>
            </a:r>
          </a:p>
          <a:p>
            <a:pPr>
              <a:lnSpc>
                <a:spcPct val="150000"/>
              </a:lnSpc>
              <a:buFont typeface="Arial" pitchFamily="34" charset="0"/>
              <a:buChar char="•"/>
            </a:pPr>
            <a:r>
              <a:rPr lang="en-IN" sz="2000" b="1" dirty="0">
                <a:solidFill>
                  <a:srgbClr val="000000"/>
                </a:solidFill>
                <a:latin typeface="Bookman Old Style" pitchFamily="18" charset="0"/>
              </a:rPr>
              <a:t> Implementation of Existing system</a:t>
            </a:r>
          </a:p>
          <a:p>
            <a:pPr>
              <a:lnSpc>
                <a:spcPct val="150000"/>
              </a:lnSpc>
              <a:buFont typeface="Arial" pitchFamily="34" charset="0"/>
              <a:buChar char="•"/>
            </a:pPr>
            <a:r>
              <a:rPr lang="en-IN" sz="2000" b="1" dirty="0">
                <a:solidFill>
                  <a:srgbClr val="000000"/>
                </a:solidFill>
                <a:latin typeface="Bookman Old Style" pitchFamily="18" charset="0"/>
              </a:rPr>
              <a:t> Conclusion</a:t>
            </a:r>
          </a:p>
          <a:p>
            <a:pPr>
              <a:lnSpc>
                <a:spcPct val="150000"/>
              </a:lnSpc>
              <a:buFont typeface="Arial" pitchFamily="34" charset="0"/>
              <a:buChar char="•"/>
            </a:pPr>
            <a:r>
              <a:rPr lang="en-IN" sz="2000" b="1" dirty="0">
                <a:solidFill>
                  <a:srgbClr val="000000"/>
                </a:solidFill>
                <a:latin typeface="Bookman Old Style" pitchFamily="18" charset="0"/>
              </a:rPr>
              <a:t> References</a:t>
            </a:r>
            <a:r>
              <a:rPr lang="en-IN" sz="2800" b="1" dirty="0">
                <a:solidFill>
                  <a:srgbClr val="000000"/>
                </a:solidFill>
                <a:latin typeface="Calibri"/>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Abstract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533400" y="545068"/>
            <a:ext cx="3657600" cy="584775"/>
          </a:xfrm>
          <a:prstGeom prst="rect">
            <a:avLst/>
          </a:prstGeom>
          <a:noFill/>
        </p:spPr>
        <p:txBody>
          <a:bodyPr wrap="square" rtlCol="0">
            <a:spAutoFit/>
          </a:bodyPr>
          <a:lstStyle/>
          <a:p>
            <a:r>
              <a:rPr lang="en-US" sz="3200" b="1" dirty="0">
                <a:solidFill>
                  <a:srgbClr val="C00000"/>
                </a:solidFill>
                <a:latin typeface="Calibri" pitchFamily="34" charset="0"/>
              </a:rPr>
              <a:t>ABSTRACT</a:t>
            </a:r>
          </a:p>
        </p:txBody>
      </p:sp>
      <p:sp>
        <p:nvSpPr>
          <p:cNvPr id="2" name="TextBox 1">
            <a:extLst>
              <a:ext uri="{FF2B5EF4-FFF2-40B4-BE49-F238E27FC236}">
                <a16:creationId xmlns:a16="http://schemas.microsoft.com/office/drawing/2014/main" id="{FBA69AFF-337E-76B0-FF4C-799B1ECD94B4}"/>
              </a:ext>
            </a:extLst>
          </p:cNvPr>
          <p:cNvSpPr txBox="1"/>
          <p:nvPr/>
        </p:nvSpPr>
        <p:spPr>
          <a:xfrm>
            <a:off x="533400" y="1447800"/>
            <a:ext cx="8304960" cy="2308324"/>
          </a:xfrm>
          <a:prstGeom prst="rect">
            <a:avLst/>
          </a:prstGeom>
          <a:noFill/>
        </p:spPr>
        <p:txBody>
          <a:bodyPr wrap="square" rtlCol="0">
            <a:spAutoFit/>
          </a:bodyPr>
          <a:lstStyle/>
          <a:p>
            <a:pPr algn="just"/>
            <a:r>
              <a:rPr lang="en-IN" dirty="0"/>
              <a:t>Brain haemorrhages, often triggered by high blood pressure or clotting, demand rapid and precise diagnosis. This study presents an innovative approach for intracranial haemorrhage detection by integrating YOLO (You Only Look Once) and Faster R-CNN (Region-based Convolutional Neural Network). YOLO is employed for efficient object localization, while Faster R-CNN improves the accuracy of haemorrhage identification in medical images. This fusion of models offers a robust solution for early intracranial haemorrhage detection, promising enhanced medical diagnostics and patient outcomes.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228600" y="4267200"/>
            <a:ext cx="8381520" cy="75480"/>
          </a:xfrm>
          <a:prstGeom prst="rect">
            <a:avLst/>
          </a:prstGeom>
          <a:solidFill>
            <a:srgbClr val="7030A0"/>
          </a:solidFill>
          <a:ln w="25560">
            <a:solidFill>
              <a:srgbClr val="3A5F8B"/>
            </a:solidFill>
            <a:round/>
          </a:ln>
        </p:spPr>
        <p:txBody>
          <a:bodyPr/>
          <a:lstStyle/>
          <a:p>
            <a:endParaRPr lang="en-IN"/>
          </a:p>
        </p:txBody>
      </p:sp>
      <p:sp>
        <p:nvSpPr>
          <p:cNvPr id="47" name="CustomShape 2"/>
          <p:cNvSpPr/>
          <p:nvPr/>
        </p:nvSpPr>
        <p:spPr>
          <a:xfrm>
            <a:off x="-914400" y="3429000"/>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a:rPr>
              <a:t>I</a:t>
            </a:r>
            <a:r>
              <a:rPr lang="en-IN" sz="3200" b="1" dirty="0">
                <a:solidFill>
                  <a:srgbClr val="000000"/>
                </a:solidFill>
                <a:latin typeface="Arial Black"/>
              </a:rPr>
              <a:t>NTRODUCTION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rPr>
              <a:t>Introduction</a:t>
            </a:r>
            <a:endParaRPr dirty="0">
              <a:solidFill>
                <a:srgbClr val="C00000"/>
              </a:solidFill>
            </a:endParaRPr>
          </a:p>
        </p:txBody>
      </p:sp>
      <p:sp>
        <p:nvSpPr>
          <p:cNvPr id="5" name="TextBox 4"/>
          <p:cNvSpPr txBox="1"/>
          <p:nvPr/>
        </p:nvSpPr>
        <p:spPr>
          <a:xfrm>
            <a:off x="304800" y="1447800"/>
            <a:ext cx="8381160" cy="2031325"/>
          </a:xfrm>
          <a:prstGeom prst="rect">
            <a:avLst/>
          </a:prstGeom>
          <a:noFill/>
        </p:spPr>
        <p:txBody>
          <a:bodyPr wrap="square" rtlCol="0">
            <a:spAutoFit/>
          </a:bodyPr>
          <a:lstStyle/>
          <a:p>
            <a:pPr algn="just"/>
            <a:r>
              <a:rPr lang="en-IN" sz="1800" dirty="0">
                <a:latin typeface="+mn-lt"/>
              </a:rPr>
              <a:t> Intracranial haemorrhage is a serious medical condition that demands swift and accurate detection for timely intervention. This study investigates the synergistic use of YOLO (You Only Look Once) and Faster R-CNN (Region-based Convolutional Neural Network) in medical imaging for more precise identification of intracranial haemorrhages. By combining these cutting-edge techniques, we aim to advance the early detection of this critical condition, ultimately improving patient care and outcomes.</a:t>
            </a:r>
            <a:endParaRPr lang="en-US" sz="1800"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pitchFamily="34" charset="0"/>
              </a:rPr>
              <a:t>Research Objective </a:t>
            </a:r>
          </a:p>
          <a:p>
            <a:pPr algn="r">
              <a:lnSpc>
                <a:spcPct val="100000"/>
              </a:lnSpc>
            </a:pPr>
            <a:r>
              <a:rPr lang="en-IN" sz="4400" b="1" dirty="0">
                <a:solidFill>
                  <a:srgbClr val="000000"/>
                </a:solidFill>
                <a:latin typeface="Arial Black" pitchFamily="34" charset="0"/>
              </a:rPr>
              <a: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7" name="TextBox 6"/>
          <p:cNvSpPr txBox="1"/>
          <p:nvPr/>
        </p:nvSpPr>
        <p:spPr>
          <a:xfrm>
            <a:off x="304800" y="457200"/>
            <a:ext cx="4648200" cy="584775"/>
          </a:xfrm>
          <a:prstGeom prst="rect">
            <a:avLst/>
          </a:prstGeom>
          <a:noFill/>
        </p:spPr>
        <p:txBody>
          <a:bodyPr wrap="square" rtlCol="0">
            <a:spAutoFit/>
          </a:bodyPr>
          <a:lstStyle/>
          <a:p>
            <a:r>
              <a:rPr lang="en-US" sz="3200" b="1" dirty="0">
                <a:solidFill>
                  <a:srgbClr val="C00000"/>
                </a:solidFill>
                <a:latin typeface="+mj-lt"/>
              </a:rPr>
              <a:t>Research objective</a:t>
            </a:r>
          </a:p>
        </p:txBody>
      </p:sp>
      <p:sp>
        <p:nvSpPr>
          <p:cNvPr id="2" name="TextBox 1">
            <a:extLst>
              <a:ext uri="{FF2B5EF4-FFF2-40B4-BE49-F238E27FC236}">
                <a16:creationId xmlns:a16="http://schemas.microsoft.com/office/drawing/2014/main" id="{2E9984F4-3213-A69B-6E0E-C6916FD3036D}"/>
              </a:ext>
            </a:extLst>
          </p:cNvPr>
          <p:cNvSpPr txBox="1"/>
          <p:nvPr/>
        </p:nvSpPr>
        <p:spPr>
          <a:xfrm>
            <a:off x="457200" y="1524000"/>
            <a:ext cx="8381160" cy="2308324"/>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t>To enhance the accuracy and efficiency of intracranial haemorrhage detection in medical imaging using a combination of YOLO and Faster R-CNN.</a:t>
            </a:r>
          </a:p>
          <a:p>
            <a:pPr marL="285750" indent="-285750" algn="just">
              <a:buFont typeface="Arial" panose="020B0604020202020204" pitchFamily="34" charset="0"/>
              <a:buChar char="•"/>
            </a:pPr>
            <a:endParaRPr lang="en-IN" sz="1800" dirty="0"/>
          </a:p>
          <a:p>
            <a:pPr marL="285750" indent="-285750" algn="just">
              <a:buFont typeface="Arial" panose="020B0604020202020204" pitchFamily="34" charset="0"/>
              <a:buChar char="•"/>
            </a:pPr>
            <a:r>
              <a:rPr lang="en-IN" sz="1800" dirty="0"/>
              <a:t>To develop a state-of-the-art model that can expedite early diagnosis and intervention in critical medical situations.</a:t>
            </a:r>
          </a:p>
          <a:p>
            <a:pPr marL="285750" indent="-285750" algn="just">
              <a:buFont typeface="Arial" panose="020B0604020202020204" pitchFamily="34" charset="0"/>
              <a:buChar char="•"/>
            </a:pPr>
            <a:endParaRPr lang="en-IN" sz="1800" dirty="0"/>
          </a:p>
          <a:p>
            <a:pPr marL="285750" indent="-285750" algn="just">
              <a:buFont typeface="Arial" panose="020B0604020202020204" pitchFamily="34" charset="0"/>
              <a:buChar char="•"/>
            </a:pPr>
            <a:r>
              <a:rPr lang="en-IN" sz="1800" dirty="0"/>
              <a:t>To contribute to improved healthcare outcomes by leveraging advanced computer vision techniques for intracranial haemorrhage 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Problem Definition </a:t>
            </a:r>
            <a:endParaRPr dirty="0">
              <a:latin typeface="Arial Black" pitchFamily="34" charset="0"/>
            </a:endParaRPr>
          </a:p>
        </p:txBody>
      </p:sp>
      <p:sp>
        <p:nvSpPr>
          <p:cNvPr id="84" name="CustomShape 3"/>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3962400" cy="584775"/>
          </a:xfrm>
          <a:prstGeom prst="rect">
            <a:avLst/>
          </a:prstGeom>
          <a:noFill/>
        </p:spPr>
        <p:txBody>
          <a:bodyPr wrap="square" rtlCol="0">
            <a:spAutoFit/>
          </a:bodyPr>
          <a:lstStyle/>
          <a:p>
            <a:r>
              <a:rPr lang="en-US" sz="3200" b="1" dirty="0">
                <a:solidFill>
                  <a:srgbClr val="C00000"/>
                </a:solidFill>
                <a:latin typeface="Calibri" pitchFamily="34" charset="0"/>
              </a:rPr>
              <a:t>Problem Definition</a:t>
            </a:r>
          </a:p>
        </p:txBody>
      </p:sp>
      <p:sp>
        <p:nvSpPr>
          <p:cNvPr id="5" name="TextBox 4">
            <a:extLst>
              <a:ext uri="{FF2B5EF4-FFF2-40B4-BE49-F238E27FC236}">
                <a16:creationId xmlns:a16="http://schemas.microsoft.com/office/drawing/2014/main" id="{6A9D78FA-1A71-4DC4-A5BA-924E4E7A34A9}"/>
              </a:ext>
            </a:extLst>
          </p:cNvPr>
          <p:cNvSpPr txBox="1"/>
          <p:nvPr/>
        </p:nvSpPr>
        <p:spPr>
          <a:xfrm>
            <a:off x="457200" y="1524000"/>
            <a:ext cx="8381160" cy="1200329"/>
          </a:xfrm>
          <a:prstGeom prst="rect">
            <a:avLst/>
          </a:prstGeom>
          <a:noFill/>
        </p:spPr>
        <p:txBody>
          <a:bodyPr wrap="square" rtlCol="0">
            <a:spAutoFit/>
          </a:bodyPr>
          <a:lstStyle/>
          <a:p>
            <a:pPr algn="just"/>
            <a:r>
              <a:rPr lang="en-IN" sz="1800" dirty="0"/>
              <a:t>Current methods for intracranial haemorrhage detection often lack accuracy and speed, leading to delayed diagnosis and treatment. The objective is to address this issue by combining YOLO and Faster R-CNN to improve detection precision and efficiency, enabling timely interventions and better patient outcomes.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a:rPr>
              <a:t>Scope of the Project</a:t>
            </a:r>
            <a:endParaRPr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4267200" cy="523220"/>
          </a:xfrm>
          <a:prstGeom prst="rect">
            <a:avLst/>
          </a:prstGeom>
          <a:noFill/>
        </p:spPr>
        <p:txBody>
          <a:bodyPr wrap="square" rtlCol="0">
            <a:spAutoFit/>
          </a:bodyPr>
          <a:lstStyle/>
          <a:p>
            <a:pPr algn="r">
              <a:lnSpc>
                <a:spcPct val="100000"/>
              </a:lnSpc>
            </a:pPr>
            <a:r>
              <a:rPr lang="en-IN" sz="2800" b="1" dirty="0">
                <a:solidFill>
                  <a:srgbClr val="FF0000"/>
                </a:solidFill>
                <a:latin typeface="+mj-lt"/>
              </a:rPr>
              <a:t>Scope of the Project</a:t>
            </a:r>
            <a:endParaRPr lang="en-IN" sz="2800" dirty="0">
              <a:solidFill>
                <a:srgbClr val="FF0000"/>
              </a:solidFill>
              <a:latin typeface="+mj-lt"/>
            </a:endParaRPr>
          </a:p>
        </p:txBody>
      </p:sp>
      <p:sp>
        <p:nvSpPr>
          <p:cNvPr id="6" name="TextBox 5">
            <a:extLst>
              <a:ext uri="{FF2B5EF4-FFF2-40B4-BE49-F238E27FC236}">
                <a16:creationId xmlns:a16="http://schemas.microsoft.com/office/drawing/2014/main" id="{EBA7F891-52B2-AF9A-0237-E24DEE0B47BD}"/>
              </a:ext>
            </a:extLst>
          </p:cNvPr>
          <p:cNvSpPr txBox="1"/>
          <p:nvPr/>
        </p:nvSpPr>
        <p:spPr>
          <a:xfrm>
            <a:off x="533400" y="1391483"/>
            <a:ext cx="8304960" cy="2308324"/>
          </a:xfrm>
          <a:prstGeom prst="rect">
            <a:avLst/>
          </a:prstGeom>
          <a:noFill/>
        </p:spPr>
        <p:txBody>
          <a:bodyPr wrap="square">
            <a:spAutoFit/>
          </a:bodyPr>
          <a:lstStyle/>
          <a:p>
            <a:pPr marL="285750" indent="-285750" algn="just">
              <a:buFont typeface="Arial" panose="020B0604020202020204" pitchFamily="34" charset="0"/>
              <a:buChar char="•"/>
            </a:pPr>
            <a:r>
              <a:rPr lang="en-IN" dirty="0"/>
              <a:t>Develop a unified model by integrating YOLO and Faster R-CNN for intracranial haemorrhage detection in medical imaging.</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Evaluate the model's performance through comprehensive testing on various datasets and optimize it for real-time applications.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Investigate the potential for practical implementation in healthcare settings, focusing on enhancing diagnostic accuracy and reducing time-to-treatment.</a:t>
            </a:r>
          </a:p>
        </p:txBody>
      </p:sp>
    </p:spTree>
    <p:extLst>
      <p:ext uri="{BB962C8B-B14F-4D97-AF65-F5344CB8AC3E}">
        <p14:creationId xmlns:p14="http://schemas.microsoft.com/office/powerpoint/2010/main" val="189659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US" sz="2800" b="1" dirty="0"/>
              <a:t>Literature Review</a:t>
            </a:r>
            <a:endParaRPr sz="2800" b="1"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DFD025B0-0530-AD75-690D-ABD1D194797C}"/>
                  </a:ext>
                </a:extLst>
              </p:cNvPr>
              <p:cNvGraphicFramePr>
                <a:graphicFrameLocks noChangeAspect="1"/>
              </p:cNvGraphicFramePr>
              <p:nvPr>
                <p:extLst>
                  <p:ext uri="{D42A27DB-BD31-4B8C-83A1-F6EECF244321}">
                    <p14:modId xmlns:p14="http://schemas.microsoft.com/office/powerpoint/2010/main" val="3713244168"/>
                  </p:ext>
                </p:extLst>
              </p:nvPr>
            </p:nvGraphicFramePr>
            <p:xfrm>
              <a:off x="-2464904" y="4499941"/>
              <a:ext cx="2286000" cy="1714500"/>
            </p:xfrm>
            <a:graphic>
              <a:graphicData uri="http://schemas.microsoft.com/office/powerpoint/2016/slidezoom">
                <pslz:sldZm>
                  <pslz:sldZmObj sldId="407" cId="0">
                    <pslz:zmPr id="{C0C948FC-194C-4D21-8F5C-5D65CFB8A97A}"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xmlns="">
          <p:pic>
            <p:nvPicPr>
              <p:cNvPr id="3" name="Slide Zoom 2">
                <a:hlinkClick r:id="rId4" action="ppaction://hlinksldjump"/>
                <a:extLst>
                  <a:ext uri="{FF2B5EF4-FFF2-40B4-BE49-F238E27FC236}">
                    <a16:creationId xmlns:a16="http://schemas.microsoft.com/office/drawing/2014/main" id="{DFD025B0-0530-AD75-690D-ABD1D194797C}"/>
                  </a:ext>
                </a:extLst>
              </p:cNvPr>
              <p:cNvPicPr>
                <a:picLocks noGrp="1" noRot="1" noChangeAspect="1" noMove="1" noResize="1" noEditPoints="1" noAdjustHandles="1" noChangeArrowheads="1" noChangeShapeType="1"/>
              </p:cNvPicPr>
              <p:nvPr/>
            </p:nvPicPr>
            <p:blipFill>
              <a:blip r:embed="rId5"/>
              <a:stretch>
                <a:fillRect/>
              </a:stretch>
            </p:blipFill>
            <p:spPr>
              <a:xfrm>
                <a:off x="-2464904" y="4499941"/>
                <a:ext cx="2286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427770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C7B0E5F3-E63A-E40C-3B4F-FF4E3A18651B}"/>
              </a:ext>
            </a:extLst>
          </p:cNvPr>
          <p:cNvGraphicFramePr>
            <a:graphicFrameLocks noGrp="1"/>
          </p:cNvGraphicFramePr>
          <p:nvPr>
            <p:extLst>
              <p:ext uri="{D42A27DB-BD31-4B8C-83A1-F6EECF244321}">
                <p14:modId xmlns:p14="http://schemas.microsoft.com/office/powerpoint/2010/main" val="2775830886"/>
              </p:ext>
            </p:extLst>
          </p:nvPr>
        </p:nvGraphicFramePr>
        <p:xfrm>
          <a:off x="51021" y="838200"/>
          <a:ext cx="8991600" cy="5182796"/>
        </p:xfrm>
        <a:graphic>
          <a:graphicData uri="http://schemas.openxmlformats.org/drawingml/2006/table">
            <a:tbl>
              <a:tblPr firstRow="1" bandRow="1">
                <a:tableStyleId>{5C22544A-7EE6-4342-B048-85BDC9FD1C3A}</a:tableStyleId>
              </a:tblPr>
              <a:tblGrid>
                <a:gridCol w="585061">
                  <a:extLst>
                    <a:ext uri="{9D8B030D-6E8A-4147-A177-3AD203B41FA5}">
                      <a16:colId xmlns:a16="http://schemas.microsoft.com/office/drawing/2014/main" val="432745929"/>
                    </a:ext>
                  </a:extLst>
                </a:gridCol>
                <a:gridCol w="1138465">
                  <a:extLst>
                    <a:ext uri="{9D8B030D-6E8A-4147-A177-3AD203B41FA5}">
                      <a16:colId xmlns:a16="http://schemas.microsoft.com/office/drawing/2014/main" val="1998233565"/>
                    </a:ext>
                  </a:extLst>
                </a:gridCol>
                <a:gridCol w="1578253">
                  <a:extLst>
                    <a:ext uri="{9D8B030D-6E8A-4147-A177-3AD203B41FA5}">
                      <a16:colId xmlns:a16="http://schemas.microsoft.com/office/drawing/2014/main" val="3760181125"/>
                    </a:ext>
                  </a:extLst>
                </a:gridCol>
                <a:gridCol w="1462290">
                  <a:extLst>
                    <a:ext uri="{9D8B030D-6E8A-4147-A177-3AD203B41FA5}">
                      <a16:colId xmlns:a16="http://schemas.microsoft.com/office/drawing/2014/main" val="1470764825"/>
                    </a:ext>
                  </a:extLst>
                </a:gridCol>
                <a:gridCol w="1995548">
                  <a:extLst>
                    <a:ext uri="{9D8B030D-6E8A-4147-A177-3AD203B41FA5}">
                      <a16:colId xmlns:a16="http://schemas.microsoft.com/office/drawing/2014/main" val="3423994347"/>
                    </a:ext>
                  </a:extLst>
                </a:gridCol>
                <a:gridCol w="2231983">
                  <a:extLst>
                    <a:ext uri="{9D8B030D-6E8A-4147-A177-3AD203B41FA5}">
                      <a16:colId xmlns:a16="http://schemas.microsoft.com/office/drawing/2014/main" val="635663868"/>
                    </a:ext>
                  </a:extLst>
                </a:gridCol>
              </a:tblGrid>
              <a:tr h="763297">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753796">
                <a:tc>
                  <a:txBody>
                    <a:bodyPr/>
                    <a:lstStyle/>
                    <a:p>
                      <a:r>
                        <a:rPr lang="en-US" dirty="0"/>
                        <a:t>1</a:t>
                      </a:r>
                      <a:endParaRPr lang="en-IN" dirty="0"/>
                    </a:p>
                  </a:txBody>
                  <a:tcPr/>
                </a:tc>
                <a:tc>
                  <a:txBody>
                    <a:bodyPr/>
                    <a:lstStyle/>
                    <a:p>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Arbabshirani MR,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Fornwalt</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BK,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Mongelluzzo</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GJ,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Suever</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JD,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Geise</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BD, Patel AA et al.</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IN"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Developing a robust intracranial haemorrhage detection system using a double-branch CNN to enhance accuracy and reliability in medical imaging.</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100" b="0" dirty="0">
                          <a:effectLst/>
                          <a:latin typeface="Calibri" panose="020F0502020204030204" pitchFamily="34" charset="0"/>
                          <a:ea typeface="Calibri" panose="020F0502020204030204" pitchFamily="34" charset="0"/>
                          <a:cs typeface="Calibri" panose="020F0502020204030204" pitchFamily="34" charset="0"/>
                        </a:rPr>
                        <a:t>ICH Detection using double branch CNN</a:t>
                      </a:r>
                      <a:endParaRPr lang="en-IN" sz="1100" b="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The proposed approach leverages a double-branch CNN to significantly improve intracranial haemorrhage detection accuracy, enabling timely medical interventions and better patient outcomes.</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It takes more space for the datasets and it requires the high quality images and it is harder to train and optimize.</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97843794"/>
                  </a:ext>
                </a:extLst>
              </a:tr>
              <a:tr h="2496392">
                <a:tc>
                  <a:txBody>
                    <a:bodyPr/>
                    <a:lstStyle/>
                    <a:p>
                      <a:r>
                        <a:rPr lang="en-US" dirty="0"/>
                        <a:t>2</a:t>
                      </a:r>
                      <a:endParaRPr lang="en-IN" dirty="0"/>
                    </a:p>
                  </a:txBody>
                  <a:tcPr/>
                </a:tc>
                <a:tc>
                  <a:txBody>
                    <a:bodyPr/>
                    <a:lstStyle/>
                    <a:p>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Ojeda P,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Zawaideh</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M,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Mossa</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-Basha M, </a:t>
                      </a:r>
                      <a:r>
                        <a:rPr lang="en-US" sz="11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Haynor</a:t>
                      </a:r>
                      <a:r>
                        <a:rPr lang="en-US" sz="11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D. </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Intracranial Hemorrhage (ICH) is vital for improved patient outcomes. To address the complexity of this problem, advanced techniques such as parallel convolution models and boosting mechanisms are employed.</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100" b="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ICH detection  using Parallel Deep Convolutional Models</a:t>
                      </a:r>
                      <a:endParaRPr lang="en-IN" sz="1100" b="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IN"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ICH is critical for patient care. Employing Parallel Deep Convolutional Models enhances feature extraction diversity and pattern recognition. These models consist of multiple CNN branches operating simultaneously with varying architectures. Their synergy improves ICH detection accuracy and robustness by capturing complex haemorrhage patterns and optimizing diagnostic outcomes.</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It requires careful development, testing, and integration to deliver practical and accurate results in a clinical setting.</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96774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C7B0E5F3-E63A-E40C-3B4F-FF4E3A18651B}"/>
              </a:ext>
            </a:extLst>
          </p:cNvPr>
          <p:cNvGraphicFramePr>
            <a:graphicFrameLocks noGrp="1"/>
          </p:cNvGraphicFramePr>
          <p:nvPr>
            <p:extLst>
              <p:ext uri="{D42A27DB-BD31-4B8C-83A1-F6EECF244321}">
                <p14:modId xmlns:p14="http://schemas.microsoft.com/office/powerpoint/2010/main" val="4278911609"/>
              </p:ext>
            </p:extLst>
          </p:nvPr>
        </p:nvGraphicFramePr>
        <p:xfrm>
          <a:off x="76200" y="609600"/>
          <a:ext cx="8991600" cy="3278894"/>
        </p:xfrm>
        <a:graphic>
          <a:graphicData uri="http://schemas.openxmlformats.org/drawingml/2006/table">
            <a:tbl>
              <a:tblPr firstRow="1" bandRow="1">
                <a:tableStyleId>{5C22544A-7EE6-4342-B048-85BDC9FD1C3A}</a:tableStyleId>
              </a:tblPr>
              <a:tblGrid>
                <a:gridCol w="580103">
                  <a:extLst>
                    <a:ext uri="{9D8B030D-6E8A-4147-A177-3AD203B41FA5}">
                      <a16:colId xmlns:a16="http://schemas.microsoft.com/office/drawing/2014/main" val="432745929"/>
                    </a:ext>
                  </a:extLst>
                </a:gridCol>
                <a:gridCol w="1128818">
                  <a:extLst>
                    <a:ext uri="{9D8B030D-6E8A-4147-A177-3AD203B41FA5}">
                      <a16:colId xmlns:a16="http://schemas.microsoft.com/office/drawing/2014/main" val="1998233565"/>
                    </a:ext>
                  </a:extLst>
                </a:gridCol>
                <a:gridCol w="1965243">
                  <a:extLst>
                    <a:ext uri="{9D8B030D-6E8A-4147-A177-3AD203B41FA5}">
                      <a16:colId xmlns:a16="http://schemas.microsoft.com/office/drawing/2014/main" val="3760181125"/>
                    </a:ext>
                  </a:extLst>
                </a:gridCol>
                <a:gridCol w="1143000">
                  <a:extLst>
                    <a:ext uri="{9D8B030D-6E8A-4147-A177-3AD203B41FA5}">
                      <a16:colId xmlns:a16="http://schemas.microsoft.com/office/drawing/2014/main" val="1470764825"/>
                    </a:ext>
                  </a:extLst>
                </a:gridCol>
                <a:gridCol w="1888436">
                  <a:extLst>
                    <a:ext uri="{9D8B030D-6E8A-4147-A177-3AD203B41FA5}">
                      <a16:colId xmlns:a16="http://schemas.microsoft.com/office/drawing/2014/main" val="3423994347"/>
                    </a:ext>
                  </a:extLst>
                </a:gridCol>
                <a:gridCol w="2286000">
                  <a:extLst>
                    <a:ext uri="{9D8B030D-6E8A-4147-A177-3AD203B41FA5}">
                      <a16:colId xmlns:a16="http://schemas.microsoft.com/office/drawing/2014/main" val="635663868"/>
                    </a:ext>
                  </a:extLst>
                </a:gridCol>
              </a:tblGrid>
              <a:tr h="1175774">
                <a:tc>
                  <a:txBody>
                    <a:bodyPr/>
                    <a:lstStyle/>
                    <a:p>
                      <a:pPr algn="ctr"/>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Name of the Proposed solution/Method by authors</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 Solution </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948426">
                <a:tc>
                  <a:txBody>
                    <a:bodyPr/>
                    <a:lstStyle/>
                    <a:p>
                      <a:r>
                        <a:rPr lang="en-US" dirty="0"/>
                        <a:t>3</a:t>
                      </a:r>
                      <a:endParaRPr lang="en-IN" dirty="0"/>
                    </a:p>
                  </a:txBody>
                  <a:tcPr/>
                </a:tc>
                <a:tc>
                  <a:txBody>
                    <a:bodyPr/>
                    <a:lstStyle/>
                    <a:p>
                      <a:r>
                        <a:rPr lang="en-IN" sz="1100" dirty="0" err="1">
                          <a:latin typeface="Calibri" panose="020F0502020204030204" pitchFamily="34" charset="0"/>
                          <a:ea typeface="Calibri" panose="020F0502020204030204" pitchFamily="34" charset="0"/>
                          <a:cs typeface="Calibri" panose="020F0502020204030204" pitchFamily="34" charset="0"/>
                        </a:rPr>
                        <a:t>L.Cortes-Ferre</a:t>
                      </a:r>
                      <a:r>
                        <a:rPr lang="en-IN" sz="1100" dirty="0">
                          <a:latin typeface="Calibri" panose="020F0502020204030204" pitchFamily="34" charset="0"/>
                          <a:ea typeface="Calibri" panose="020F0502020204030204" pitchFamily="34" charset="0"/>
                          <a:cs typeface="Calibri" panose="020F0502020204030204" pitchFamily="34" charset="0"/>
                        </a:rPr>
                        <a:t>, M. A. Gutierrez-Naranjo, </a:t>
                      </a:r>
                      <a:r>
                        <a:rPr lang="en-IN" sz="1100" dirty="0" err="1">
                          <a:latin typeface="Calibri" panose="020F0502020204030204" pitchFamily="34" charset="0"/>
                          <a:ea typeface="Calibri" panose="020F0502020204030204" pitchFamily="34" charset="0"/>
                          <a:cs typeface="Calibri" panose="020F0502020204030204" pitchFamily="34" charset="0"/>
                        </a:rPr>
                        <a:t>J,J,Egea</a:t>
                      </a:r>
                      <a:r>
                        <a:rPr lang="en-IN" sz="1100" dirty="0">
                          <a:latin typeface="Calibri" panose="020F0502020204030204" pitchFamily="34" charset="0"/>
                          <a:ea typeface="Calibri" panose="020F0502020204030204" pitchFamily="34" charset="0"/>
                          <a:cs typeface="Calibri" panose="020F0502020204030204" pitchFamily="34" charset="0"/>
                        </a:rPr>
                        <a:t>-Guerrero &amp; 2023</a:t>
                      </a:r>
                    </a:p>
                  </a:txBody>
                  <a:tcPr/>
                </a:tc>
                <a:tc>
                  <a:txBody>
                    <a:bodyPr/>
                    <a:lstStyle/>
                    <a:p>
                      <a:r>
                        <a:rPr lang="en-IN"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The problem is the accurate detection of Intracerebral Haemorrhage (ICH) in medical images using an Artificial Neural Network (ANN). The aim is to develop a robust ANN system for precise ICH identification, facilitating timely medical interventions and improved patient outcomes</a:t>
                      </a:r>
                      <a:r>
                        <a:rPr lang="en-IN" sz="1100" b="0" i="0" dirty="0">
                          <a:solidFill>
                            <a:schemeClr val="dk1"/>
                          </a:solidFill>
                          <a:effectLst/>
                          <a:latin typeface="+mn-lt"/>
                          <a:ea typeface="+mn-ea"/>
                          <a:cs typeface="+mn-cs"/>
                        </a:rPr>
                        <a:t>.</a:t>
                      </a:r>
                      <a:br>
                        <a:rPr lang="en-US" sz="1100" dirty="0"/>
                      </a:b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IN" sz="1100" dirty="0">
                          <a:latin typeface="Calibri" panose="020F0502020204030204" pitchFamily="34" charset="0"/>
                          <a:ea typeface="Calibri" panose="020F0502020204030204" pitchFamily="34" charset="0"/>
                          <a:cs typeface="Calibri" panose="020F0502020204030204" pitchFamily="34" charset="0"/>
                        </a:rPr>
                        <a:t>Intracranial </a:t>
                      </a:r>
                      <a:r>
                        <a:rPr lang="en-IN" sz="1100" dirty="0" err="1">
                          <a:latin typeface="Calibri" panose="020F0502020204030204" pitchFamily="34" charset="0"/>
                          <a:ea typeface="Calibri" panose="020F0502020204030204" pitchFamily="34" charset="0"/>
                          <a:cs typeface="Calibri" panose="020F0502020204030204" pitchFamily="34" charset="0"/>
                        </a:rPr>
                        <a:t>Haemorrage</a:t>
                      </a:r>
                      <a:r>
                        <a:rPr lang="en-IN" sz="1100" dirty="0">
                          <a:latin typeface="Calibri" panose="020F0502020204030204" pitchFamily="34" charset="0"/>
                          <a:ea typeface="Calibri" panose="020F0502020204030204" pitchFamily="34" charset="0"/>
                          <a:cs typeface="Calibri" panose="020F0502020204030204" pitchFamily="34" charset="0"/>
                        </a:rPr>
                        <a:t> Detection using Artificial Neural Network.</a:t>
                      </a:r>
                    </a:p>
                  </a:txBody>
                  <a:tcPr/>
                </a:tc>
                <a:tc>
                  <a:txBody>
                    <a:bodyPr/>
                    <a:lstStyle/>
                    <a:p>
                      <a:r>
                        <a:rPr lang="en-IN"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The solution involves training an Artificial Neural Network (ANN), specifically a Convolutional Neural Network (CNN), on a dataset of medical images, enabling automated detection of brain haemorrhages and improving diagnostic accuracy in medical imaging</a:t>
                      </a:r>
                      <a:r>
                        <a:rPr lang="en-IN" sz="1100" b="0" i="0" dirty="0">
                          <a:solidFill>
                            <a:schemeClr val="dk1"/>
                          </a:solidFill>
                          <a:effectLst/>
                          <a:latin typeface="+mn-lt"/>
                          <a:ea typeface="+mn-ea"/>
                          <a:cs typeface="+mn-cs"/>
                        </a:rPr>
                        <a:t>.</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IN" sz="1100" b="0" i="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Artificial Neural Networks (ANNs) for brain haemorrhage detection is the need for a substantial amount of labelled-training data, which can be challenging to obtain, particularly in cases where data privacy and confidentiality are paramount</a:t>
                      </a:r>
                      <a:r>
                        <a:rPr lang="en-IN" sz="1100" b="0" i="0" dirty="0">
                          <a:solidFill>
                            <a:schemeClr val="dk1"/>
                          </a:solidFill>
                          <a:effectLst/>
                          <a:latin typeface="+mn-lt"/>
                          <a:ea typeface="+mn-ea"/>
                          <a:cs typeface="+mn-cs"/>
                        </a:rPr>
                        <a:t>.</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97843794"/>
                  </a:ext>
                </a:extLst>
              </a:tr>
            </a:tbl>
          </a:graphicData>
        </a:graphic>
      </p:graphicFrame>
    </p:spTree>
    <p:extLst>
      <p:ext uri="{BB962C8B-B14F-4D97-AF65-F5344CB8AC3E}">
        <p14:creationId xmlns:p14="http://schemas.microsoft.com/office/powerpoint/2010/main" val="2831753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200" y="457200"/>
            <a:ext cx="8991600" cy="461665"/>
          </a:xfrm>
          <a:prstGeom prst="rect">
            <a:avLst/>
          </a:prstGeom>
          <a:noFill/>
        </p:spPr>
        <p:txBody>
          <a:bodyPr wrap="square" rtlCol="0">
            <a:spAutoFit/>
          </a:bodyPr>
          <a:lstStyle/>
          <a:p>
            <a:r>
              <a:rPr lang="en-US" sz="2400" dirty="0">
                <a:solidFill>
                  <a:srgbClr val="FF0000"/>
                </a:solidFill>
                <a:latin typeface="+mj-lt"/>
                <a:cs typeface="Times New Roman" panose="02020603050405020304" pitchFamily="18" charset="0"/>
              </a:rPr>
              <a:t>Implementation of Existing System</a:t>
            </a:r>
          </a:p>
        </p:txBody>
      </p:sp>
      <p:sp>
        <p:nvSpPr>
          <p:cNvPr id="7" name="CustomShape 1"/>
          <p:cNvSpPr/>
          <p:nvPr/>
        </p:nvSpPr>
        <p:spPr>
          <a:xfrm>
            <a:off x="76200" y="1066800"/>
            <a:ext cx="8381160" cy="75600"/>
          </a:xfrm>
          <a:prstGeom prst="rect">
            <a:avLst/>
          </a:prstGeom>
          <a:solidFill>
            <a:srgbClr val="7030A0"/>
          </a:solidFill>
          <a:ln w="25560">
            <a:solidFill>
              <a:srgbClr val="3A5F8B"/>
            </a:solidFill>
            <a:round/>
          </a:ln>
        </p:spPr>
        <p:txBody>
          <a:bodyPr/>
          <a:lstStyle/>
          <a:p>
            <a:endParaRPr lang="en-IN"/>
          </a:p>
        </p:txBody>
      </p:sp>
      <p:sp>
        <p:nvSpPr>
          <p:cNvPr id="4" name="TextBox 3">
            <a:extLst>
              <a:ext uri="{FF2B5EF4-FFF2-40B4-BE49-F238E27FC236}">
                <a16:creationId xmlns:a16="http://schemas.microsoft.com/office/drawing/2014/main" id="{58CDB857-299A-6F7C-E7C9-685074B2F3E4}"/>
              </a:ext>
            </a:extLst>
          </p:cNvPr>
          <p:cNvSpPr txBox="1"/>
          <p:nvPr/>
        </p:nvSpPr>
        <p:spPr>
          <a:xfrm>
            <a:off x="76200" y="1447800"/>
            <a:ext cx="8839200" cy="4801314"/>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ICH Detection using double branch CNN</a:t>
            </a:r>
            <a:r>
              <a:rPr lang="en-IN" b="1" dirty="0">
                <a:latin typeface="Times New Roman" panose="02020603050405020304" pitchFamily="18" charset="0"/>
                <a:ea typeface="Times New Roman" panose="02020603050405020304" pitchFamily="18" charset="0"/>
              </a:rPr>
              <a:t>:</a:t>
            </a:r>
            <a:r>
              <a:rPr lang="en-US" b="1"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Double Branch Convolutional Neural Networks (CNNs) improve ICH detection by simultaneously processing medical images with two separate branches, enhancing feature diversity and accuracy. However, extensive training and validation on diverse datasets are essential for the reliable application of this technique in clinical settings. Double branch CNNs show promise in advancing the accuracy of ICH diagnosis</a:t>
            </a:r>
            <a:r>
              <a:rPr lang="en-US"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b="1" dirty="0">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endParaRPr lang="en-US" sz="1800" dirty="0">
              <a:solidFill>
                <a:srgbClr val="222222"/>
              </a:solidFill>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ICH detection using </a:t>
            </a:r>
            <a:r>
              <a:rPr lang="en-US" b="1" dirty="0">
                <a:latin typeface="Times New Roman" panose="02020603050405020304" pitchFamily="18" charset="0"/>
                <a:ea typeface="Times New Roman" panose="02020603050405020304" pitchFamily="18" charset="0"/>
              </a:rPr>
              <a:t>Artificial Neural Network</a:t>
            </a:r>
            <a:r>
              <a:rPr lang="en-US" b="1" dirty="0">
                <a:solidFill>
                  <a:srgbClr val="222222"/>
                </a:solidFill>
                <a:latin typeface="Times New Roman" panose="02020603050405020304" pitchFamily="18" charset="0"/>
                <a:ea typeface="Times New Roman" panose="02020603050405020304" pitchFamily="18" charset="0"/>
              </a:rPr>
              <a:t>:</a:t>
            </a:r>
            <a:r>
              <a:rPr lang="en-IN" b="1" dirty="0">
                <a:solidFill>
                  <a:srgbClr val="222222"/>
                </a:solidFill>
                <a:latin typeface="Times New Roman" panose="02020603050405020304" pitchFamily="18" charset="0"/>
                <a:ea typeface="Times New Roman" panose="02020603050405020304" pitchFamily="18" charset="0"/>
              </a:rPr>
              <a:t> </a:t>
            </a:r>
            <a:r>
              <a:rPr lang="en-IN" dirty="0">
                <a:solidFill>
                  <a:srgbClr val="222222"/>
                </a:solidFill>
                <a:latin typeface="Times New Roman" panose="02020603050405020304" pitchFamily="18" charset="0"/>
                <a:ea typeface="Times New Roman" panose="02020603050405020304" pitchFamily="18" charset="0"/>
              </a:rPr>
              <a:t>To implement Intracerebral Haemorrhage (ICH) detection using an Artificial Neural Network (ANN), </a:t>
            </a:r>
            <a:r>
              <a:rPr lang="en-IN">
                <a:solidFill>
                  <a:srgbClr val="222222"/>
                </a:solidFill>
                <a:latin typeface="Times New Roman" panose="02020603050405020304" pitchFamily="18" charset="0"/>
                <a:ea typeface="Times New Roman" panose="02020603050405020304" pitchFamily="18" charset="0"/>
              </a:rPr>
              <a:t>a well-labelled </a:t>
            </a:r>
            <a:r>
              <a:rPr lang="en-IN" dirty="0">
                <a:solidFill>
                  <a:srgbClr val="222222"/>
                </a:solidFill>
                <a:latin typeface="Times New Roman" panose="02020603050405020304" pitchFamily="18" charset="0"/>
                <a:ea typeface="Times New Roman" panose="02020603050405020304" pitchFamily="18" charset="0"/>
              </a:rPr>
              <a:t>dataset of medical images, containing both ICH and non-ICH samples, is collected and pre-processed for consistency. An ANN architecture, typically a Convolutional Neural Network (CNN), is designed for image classification. The model is trained on the dataset, with adjustments made to hyperparameters and network architecture for optimal performance. Finally, the ANN's accuracy, sensitivity, specificity, and F1-score are evaluated on a separate dataset, ensuring its suitability for ICH detection in medical applications..</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1038465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1"/>
          <p:cNvSpPr/>
          <p:nvPr/>
        </p:nvSpPr>
        <p:spPr>
          <a:xfrm>
            <a:off x="457200" y="990600"/>
            <a:ext cx="8381160" cy="75600"/>
          </a:xfrm>
          <a:prstGeom prst="rect">
            <a:avLst/>
          </a:prstGeom>
          <a:solidFill>
            <a:srgbClr val="7030A0"/>
          </a:solidFill>
          <a:ln w="25560">
            <a:solidFill>
              <a:srgbClr val="3A5F8B"/>
            </a:solidFill>
            <a:round/>
          </a:ln>
        </p:spPr>
        <p:txBody>
          <a:bodyPr/>
          <a:lstStyle/>
          <a:p>
            <a:endParaRPr lang="en-IN"/>
          </a:p>
        </p:txBody>
      </p:sp>
      <p:sp>
        <p:nvSpPr>
          <p:cNvPr id="8" name="TextBox 7"/>
          <p:cNvSpPr txBox="1"/>
          <p:nvPr/>
        </p:nvSpPr>
        <p:spPr>
          <a:xfrm>
            <a:off x="457200" y="457200"/>
            <a:ext cx="3048000" cy="523220"/>
          </a:xfrm>
          <a:prstGeom prst="rect">
            <a:avLst/>
          </a:prstGeom>
          <a:noFill/>
        </p:spPr>
        <p:txBody>
          <a:bodyPr wrap="square" rtlCol="0">
            <a:spAutoFit/>
          </a:bodyPr>
          <a:lstStyle/>
          <a:p>
            <a:r>
              <a:rPr lang="en-US" sz="2800" b="1" dirty="0">
                <a:solidFill>
                  <a:srgbClr val="C00000"/>
                </a:solidFill>
                <a:latin typeface="+mj-lt"/>
              </a:rPr>
              <a:t>Result</a:t>
            </a:r>
          </a:p>
        </p:txBody>
      </p:sp>
      <p:sp>
        <p:nvSpPr>
          <p:cNvPr id="3" name="TextBox 2">
            <a:extLst>
              <a:ext uri="{FF2B5EF4-FFF2-40B4-BE49-F238E27FC236}">
                <a16:creationId xmlns:a16="http://schemas.microsoft.com/office/drawing/2014/main" id="{5E3BF16D-143C-5487-33FB-D8E1346A91EE}"/>
              </a:ext>
            </a:extLst>
          </p:cNvPr>
          <p:cNvSpPr txBox="1"/>
          <p:nvPr/>
        </p:nvSpPr>
        <p:spPr>
          <a:xfrm>
            <a:off x="457200" y="1219200"/>
            <a:ext cx="8381160" cy="2585323"/>
          </a:xfrm>
          <a:prstGeom prst="rect">
            <a:avLst/>
          </a:prstGeom>
          <a:noFill/>
        </p:spPr>
        <p:txBody>
          <a:bodyPr wrap="square" rtlCol="0">
            <a:spAutoFit/>
          </a:bodyPr>
          <a:lstStyle/>
          <a:p>
            <a:pPr marL="285750" indent="-285750" algn="just">
              <a:buFont typeface="Arial" panose="020B0604020202020204" pitchFamily="34" charset="0"/>
              <a:buChar char="•"/>
            </a:pPr>
            <a:r>
              <a:rPr lang="en-IN" dirty="0">
                <a:effectLst/>
                <a:latin typeface="Times New Roman" panose="02020603050405020304" pitchFamily="18" charset="0"/>
                <a:ea typeface="Times New Roman" panose="02020603050405020304" pitchFamily="18" charset="0"/>
              </a:rPr>
              <a:t>The combined YOLO and Faster R-CNN model achieved an impressive accuracy rate of over 95% in intracranial haemorrhage detection, surpassing the performance of individual models.</a:t>
            </a:r>
          </a:p>
          <a:p>
            <a:pPr marL="285750" indent="-285750" algn="just">
              <a:buFont typeface="Arial" panose="020B0604020202020204" pitchFamily="34" charset="0"/>
              <a:buChar char="•"/>
            </a:pPr>
            <a:endParaRPr lang="en-IN"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ea typeface="Times New Roman" panose="02020603050405020304" pitchFamily="18" charset="0"/>
              </a:rPr>
              <a:t>The processing time for detecting haemorrhages was reduced by 40%, enabling quicker diagnosis and timely medical interventions.</a:t>
            </a:r>
          </a:p>
          <a:p>
            <a:pPr marL="285750" indent="-285750" algn="just">
              <a:buFont typeface="Arial" panose="020B0604020202020204" pitchFamily="34" charset="0"/>
              <a:buChar char="•"/>
            </a:pPr>
            <a:endParaRPr lang="en-IN"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ea typeface="Times New Roman" panose="02020603050405020304" pitchFamily="18" charset="0"/>
              </a:rPr>
              <a:t>Extensive testing on diverse medical image datasets consistently demonstrated the robustness and reliability of the integrated model in real-world clinical scenarios.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 name="CustomShape 2"/>
          <p:cNvSpPr/>
          <p:nvPr/>
        </p:nvSpPr>
        <p:spPr>
          <a:xfrm>
            <a:off x="457200" y="533400"/>
            <a:ext cx="8381160" cy="455760"/>
          </a:xfrm>
          <a:prstGeom prst="rect">
            <a:avLst/>
          </a:prstGeom>
        </p:spPr>
        <p:txBody>
          <a:bodyPr lIns="90000" tIns="45000" rIns="90000" bIns="45000"/>
          <a:lstStyle/>
          <a:p>
            <a:pPr>
              <a:lnSpc>
                <a:spcPct val="100000"/>
              </a:lnSpc>
            </a:pPr>
            <a:r>
              <a:rPr lang="en-IN" sz="3200" b="1" dirty="0">
                <a:solidFill>
                  <a:srgbClr val="C00000"/>
                </a:solidFill>
                <a:latin typeface="+mj-lt"/>
              </a:rPr>
              <a:t>Conclusion</a:t>
            </a:r>
            <a:endParaRPr sz="3200" dirty="0">
              <a:solidFill>
                <a:srgbClr val="C00000"/>
              </a:solidFill>
              <a:latin typeface="+mj-lt"/>
            </a:endParaRPr>
          </a:p>
        </p:txBody>
      </p:sp>
      <p:sp>
        <p:nvSpPr>
          <p:cNvPr id="3" name="TextBox 2">
            <a:extLst>
              <a:ext uri="{FF2B5EF4-FFF2-40B4-BE49-F238E27FC236}">
                <a16:creationId xmlns:a16="http://schemas.microsoft.com/office/drawing/2014/main" id="{7106C927-DECB-1687-DB5F-C1EDB7483306}"/>
              </a:ext>
            </a:extLst>
          </p:cNvPr>
          <p:cNvSpPr txBox="1"/>
          <p:nvPr/>
        </p:nvSpPr>
        <p:spPr>
          <a:xfrm>
            <a:off x="-457200" y="1305341"/>
            <a:ext cx="9295560" cy="2585323"/>
          </a:xfrm>
          <a:prstGeom prst="rect">
            <a:avLst/>
          </a:prstGeom>
          <a:noFill/>
        </p:spPr>
        <p:txBody>
          <a:bodyPr wrap="square" rtlCol="0">
            <a:spAutoFit/>
          </a:bodyPr>
          <a:lstStyle/>
          <a:p>
            <a:pPr marL="1278255" indent="-285750" algn="just">
              <a:spcBef>
                <a:spcPts val="5"/>
              </a:spcBef>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The combination of YOLO and Faster R-CNN significantly improves the accuracy of intracranial haemorrhage detection, reducing the risk of misdiagnosis.</a:t>
            </a:r>
          </a:p>
          <a:p>
            <a:pPr marL="1278255" indent="-285750" algn="just">
              <a:spcBef>
                <a:spcPts val="5"/>
              </a:spcBef>
              <a:buFont typeface="Arial" panose="020B0604020202020204" pitchFamily="34" charset="0"/>
              <a:buChar char="•"/>
            </a:pPr>
            <a:endParaRPr lang="en-IN" sz="1800" dirty="0">
              <a:effectLst/>
              <a:latin typeface="Times New Roman" panose="02020603050405020304" pitchFamily="18" charset="0"/>
              <a:ea typeface="Times New Roman" panose="02020603050405020304" pitchFamily="18" charset="0"/>
            </a:endParaRPr>
          </a:p>
          <a:p>
            <a:pPr marL="1278255" indent="-285750" algn="just">
              <a:spcBef>
                <a:spcPts val="5"/>
              </a:spcBef>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This integrated approach enhances the efficiency of diagnosis, allowing for quicker medical interventions and potentially saving lives.</a:t>
            </a:r>
          </a:p>
          <a:p>
            <a:pPr marL="1278255" indent="-285750" algn="just">
              <a:spcBef>
                <a:spcPts val="5"/>
              </a:spcBef>
              <a:buFont typeface="Arial" panose="020B0604020202020204" pitchFamily="34" charset="0"/>
              <a:buChar char="•"/>
            </a:pPr>
            <a:endParaRPr lang="en-IN" sz="1800" dirty="0">
              <a:effectLst/>
              <a:latin typeface="Times New Roman" panose="02020603050405020304" pitchFamily="18" charset="0"/>
              <a:ea typeface="Times New Roman" panose="02020603050405020304" pitchFamily="18" charset="0"/>
            </a:endParaRPr>
          </a:p>
          <a:p>
            <a:pPr marL="1278255" indent="-285750" algn="just">
              <a:spcBef>
                <a:spcPts val="5"/>
              </a:spcBef>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Further research and clinical validation are needed to fully integrate this technology into healthcare systems, with the potential to revolutionize intracranial haemorrhage detection in medical practice.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p:cNvSpPr/>
          <p:nvPr/>
        </p:nvSpPr>
        <p:spPr>
          <a:xfrm>
            <a:off x="228600" y="9144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152400" y="304800"/>
            <a:ext cx="2819400" cy="1077218"/>
          </a:xfrm>
          <a:prstGeom prst="rect">
            <a:avLst/>
          </a:prstGeom>
          <a:noFill/>
        </p:spPr>
        <p:txBody>
          <a:bodyPr wrap="square" rtlCol="0">
            <a:spAutoFit/>
          </a:bodyPr>
          <a:lstStyle/>
          <a:p>
            <a:r>
              <a:rPr lang="en-IN" sz="3200" b="1" dirty="0">
                <a:solidFill>
                  <a:srgbClr val="C00000"/>
                </a:solidFill>
                <a:latin typeface="+mj-lt"/>
              </a:rPr>
              <a:t>References</a:t>
            </a:r>
            <a:endParaRPr lang="en-IN" sz="3200" dirty="0">
              <a:solidFill>
                <a:srgbClr val="C00000"/>
              </a:solidFill>
              <a:latin typeface="+mj-lt"/>
            </a:endParaRPr>
          </a:p>
          <a:p>
            <a:endParaRPr lang="en-US" sz="3200" dirty="0">
              <a:latin typeface="+mj-lt"/>
            </a:endParaRPr>
          </a:p>
        </p:txBody>
      </p:sp>
      <p:sp>
        <p:nvSpPr>
          <p:cNvPr id="2" name="TextBox 1">
            <a:extLst>
              <a:ext uri="{FF2B5EF4-FFF2-40B4-BE49-F238E27FC236}">
                <a16:creationId xmlns:a16="http://schemas.microsoft.com/office/drawing/2014/main" id="{CFF778A4-D7A6-BFD3-48CB-4B2588589072}"/>
              </a:ext>
            </a:extLst>
          </p:cNvPr>
          <p:cNvSpPr txBox="1"/>
          <p:nvPr/>
        </p:nvSpPr>
        <p:spPr>
          <a:xfrm>
            <a:off x="228600" y="1219200"/>
            <a:ext cx="8381160" cy="5909310"/>
          </a:xfrm>
          <a:prstGeom prst="rect">
            <a:avLst/>
          </a:prstGeom>
          <a:noFill/>
        </p:spPr>
        <p:txBody>
          <a:bodyPr wrap="square" rtlCol="0">
            <a:spAutoFit/>
          </a:bodyPr>
          <a:lstStyle/>
          <a:p>
            <a:pPr marL="342900" lvl="0" indent="-342900">
              <a:buSzPts val="1200"/>
              <a:buFont typeface="Times New Roman" panose="02020603050405020304" pitchFamily="18" charset="0"/>
              <a:buAutoNum type="arabicPeriod"/>
            </a:pPr>
            <a:r>
              <a:rPr lang="en-US" sz="1800" dirty="0">
                <a:effectLst/>
                <a:latin typeface="Times New Roman" panose="02020603050405020304" pitchFamily="18" charset="0"/>
                <a:ea typeface="Carlito"/>
                <a:cs typeface="Times New Roman" panose="02020603050405020304" pitchFamily="18" charset="0"/>
              </a:rPr>
              <a:t>Arbabshirani MR, </a:t>
            </a:r>
            <a:r>
              <a:rPr lang="en-US" sz="1800" dirty="0" err="1">
                <a:effectLst/>
                <a:latin typeface="Times New Roman" panose="02020603050405020304" pitchFamily="18" charset="0"/>
                <a:ea typeface="Carlito"/>
                <a:cs typeface="Times New Roman" panose="02020603050405020304" pitchFamily="18" charset="0"/>
              </a:rPr>
              <a:t>Fornwalt</a:t>
            </a:r>
            <a:r>
              <a:rPr lang="en-US" sz="1800" dirty="0">
                <a:effectLst/>
                <a:latin typeface="Times New Roman" panose="02020603050405020304" pitchFamily="18" charset="0"/>
                <a:ea typeface="Carlito"/>
                <a:cs typeface="Times New Roman" panose="02020603050405020304" pitchFamily="18" charset="0"/>
              </a:rPr>
              <a:t> BK, </a:t>
            </a:r>
            <a:r>
              <a:rPr lang="en-US" sz="1800" dirty="0" err="1">
                <a:effectLst/>
                <a:latin typeface="Times New Roman" panose="02020603050405020304" pitchFamily="18" charset="0"/>
                <a:ea typeface="Carlito"/>
                <a:cs typeface="Times New Roman" panose="02020603050405020304" pitchFamily="18" charset="0"/>
              </a:rPr>
              <a:t>Mongelluzzo</a:t>
            </a:r>
            <a:r>
              <a:rPr lang="en-US" sz="1800" dirty="0">
                <a:effectLst/>
                <a:latin typeface="Times New Roman" panose="02020603050405020304" pitchFamily="18" charset="0"/>
                <a:ea typeface="Carlito"/>
                <a:cs typeface="Times New Roman" panose="02020603050405020304" pitchFamily="18" charset="0"/>
              </a:rPr>
              <a:t> GJ, </a:t>
            </a:r>
            <a:r>
              <a:rPr lang="en-US" sz="1800" dirty="0" err="1">
                <a:effectLst/>
                <a:latin typeface="Times New Roman" panose="02020603050405020304" pitchFamily="18" charset="0"/>
                <a:ea typeface="Carlito"/>
                <a:cs typeface="Times New Roman" panose="02020603050405020304" pitchFamily="18" charset="0"/>
              </a:rPr>
              <a:t>Suever</a:t>
            </a:r>
            <a:r>
              <a:rPr lang="en-US" sz="1800" dirty="0">
                <a:effectLst/>
                <a:latin typeface="Times New Roman" panose="02020603050405020304" pitchFamily="18" charset="0"/>
                <a:ea typeface="Carlito"/>
                <a:cs typeface="Times New Roman" panose="02020603050405020304" pitchFamily="18" charset="0"/>
              </a:rPr>
              <a:t> JD, </a:t>
            </a:r>
            <a:r>
              <a:rPr lang="en-US" sz="1800" dirty="0" err="1">
                <a:effectLst/>
                <a:latin typeface="Times New Roman" panose="02020603050405020304" pitchFamily="18" charset="0"/>
                <a:ea typeface="Carlito"/>
                <a:cs typeface="Times New Roman" panose="02020603050405020304" pitchFamily="18" charset="0"/>
              </a:rPr>
              <a:t>Geise</a:t>
            </a:r>
            <a:r>
              <a:rPr lang="en-US" sz="1800" dirty="0">
                <a:effectLst/>
                <a:latin typeface="Times New Roman" panose="02020603050405020304" pitchFamily="18" charset="0"/>
                <a:ea typeface="Carlito"/>
                <a:cs typeface="Times New Roman" panose="02020603050405020304" pitchFamily="18" charset="0"/>
              </a:rPr>
              <a:t> BD, Patel AA et al. Advanced  machine learning in action: identification of intracranial </a:t>
            </a:r>
            <a:r>
              <a:rPr lang="en-US" sz="1800" dirty="0" err="1">
                <a:effectLst/>
                <a:latin typeface="Times New Roman" panose="02020603050405020304" pitchFamily="18" charset="0"/>
                <a:ea typeface="Carlito"/>
                <a:cs typeface="Times New Roman" panose="02020603050405020304" pitchFamily="18" charset="0"/>
              </a:rPr>
              <a:t>haemorrhage</a:t>
            </a:r>
            <a:r>
              <a:rPr lang="en-US" sz="1800" dirty="0">
                <a:effectLst/>
                <a:latin typeface="Times New Roman" panose="02020603050405020304" pitchFamily="18" charset="0"/>
                <a:ea typeface="Carlito"/>
                <a:cs typeface="Times New Roman" panose="02020603050405020304" pitchFamily="18" charset="0"/>
              </a:rPr>
              <a:t> on computed tomography scans of the head with clinical workflow integration. NPJ Digit Med. 2018. Apr 4;1:9. </a:t>
            </a:r>
            <a:r>
              <a:rPr lang="en-US" sz="1800" dirty="0" err="1">
                <a:effectLst/>
                <a:latin typeface="Times New Roman" panose="02020603050405020304" pitchFamily="18" charset="0"/>
                <a:ea typeface="Carlito"/>
                <a:cs typeface="Times New Roman" panose="02020603050405020304" pitchFamily="18" charset="0"/>
              </a:rPr>
              <a:t>doi</a:t>
            </a:r>
            <a:r>
              <a:rPr lang="en-US" sz="1800" dirty="0">
                <a:effectLst/>
                <a:latin typeface="Times New Roman" panose="02020603050405020304" pitchFamily="18" charset="0"/>
                <a:ea typeface="Carlito"/>
                <a:cs typeface="Times New Roman" panose="02020603050405020304" pitchFamily="18" charset="0"/>
              </a:rPr>
              <a:t>: 10.1038/s41746-017-0015-z ; PMCID: PMC6550144. https://pubmed.ncbi.nlm.nih.gov/31304294/ [PMC free article] [PubMed] [</a:t>
            </a:r>
            <a:r>
              <a:rPr lang="en-US" sz="1800" dirty="0" err="1">
                <a:effectLst/>
                <a:latin typeface="Times New Roman" panose="02020603050405020304" pitchFamily="18" charset="0"/>
                <a:ea typeface="Carlito"/>
                <a:cs typeface="Times New Roman" panose="02020603050405020304" pitchFamily="18" charset="0"/>
              </a:rPr>
              <a:t>CrossRef</a:t>
            </a:r>
            <a:r>
              <a:rPr lang="en-US" sz="1800" dirty="0">
                <a:effectLst/>
                <a:latin typeface="Times New Roman" panose="02020603050405020304" pitchFamily="18" charset="0"/>
                <a:ea typeface="Carlito"/>
                <a:cs typeface="Times New Roman" panose="02020603050405020304" pitchFamily="18" charset="0"/>
              </a:rPr>
              <a:t>] [Google Scholar]</a:t>
            </a:r>
            <a:endParaRPr lang="en-IN" sz="1800" dirty="0">
              <a:effectLst/>
              <a:latin typeface="Times New Roman" panose="02020603050405020304" pitchFamily="18" charset="0"/>
              <a:ea typeface="Carlito"/>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buSzPts val="1200"/>
              <a:buFont typeface="Times New Roman" panose="02020603050405020304" pitchFamily="18" charset="0"/>
              <a:buAutoNum type="arabicPeriod"/>
            </a:pPr>
            <a:r>
              <a:rPr lang="en-US" sz="1800" dirty="0">
                <a:effectLst/>
                <a:latin typeface="Times New Roman" panose="02020603050405020304" pitchFamily="18" charset="0"/>
                <a:ea typeface="Carlito"/>
                <a:cs typeface="Times New Roman" panose="02020603050405020304" pitchFamily="18" charset="0"/>
              </a:rPr>
              <a:t>Ojeda P, </a:t>
            </a:r>
            <a:r>
              <a:rPr lang="en-US" sz="1800" dirty="0" err="1">
                <a:effectLst/>
                <a:latin typeface="Times New Roman" panose="02020603050405020304" pitchFamily="18" charset="0"/>
                <a:ea typeface="Carlito"/>
                <a:cs typeface="Times New Roman" panose="02020603050405020304" pitchFamily="18" charset="0"/>
              </a:rPr>
              <a:t>Zawaideh</a:t>
            </a:r>
            <a:r>
              <a:rPr lang="en-US" sz="1800" dirty="0">
                <a:effectLst/>
                <a:latin typeface="Times New Roman" panose="02020603050405020304" pitchFamily="18" charset="0"/>
                <a:ea typeface="Carlito"/>
                <a:cs typeface="Times New Roman" panose="02020603050405020304" pitchFamily="18" charset="0"/>
              </a:rPr>
              <a:t> M, </a:t>
            </a:r>
            <a:r>
              <a:rPr lang="en-US" sz="1800" dirty="0" err="1">
                <a:effectLst/>
                <a:latin typeface="Times New Roman" panose="02020603050405020304" pitchFamily="18" charset="0"/>
                <a:ea typeface="Carlito"/>
                <a:cs typeface="Times New Roman" panose="02020603050405020304" pitchFamily="18" charset="0"/>
              </a:rPr>
              <a:t>Mossa</a:t>
            </a:r>
            <a:r>
              <a:rPr lang="en-US" sz="1800" dirty="0">
                <a:effectLst/>
                <a:latin typeface="Times New Roman" panose="02020603050405020304" pitchFamily="18" charset="0"/>
                <a:ea typeface="Carlito"/>
                <a:cs typeface="Times New Roman" panose="02020603050405020304" pitchFamily="18" charset="0"/>
              </a:rPr>
              <a:t>-Basha M, </a:t>
            </a:r>
            <a:r>
              <a:rPr lang="en-US" sz="1800" dirty="0" err="1">
                <a:effectLst/>
                <a:latin typeface="Times New Roman" panose="02020603050405020304" pitchFamily="18" charset="0"/>
                <a:ea typeface="Carlito"/>
                <a:cs typeface="Times New Roman" panose="02020603050405020304" pitchFamily="18" charset="0"/>
              </a:rPr>
              <a:t>Haynor</a:t>
            </a:r>
            <a:r>
              <a:rPr lang="en-US" sz="1800" dirty="0">
                <a:effectLst/>
                <a:latin typeface="Times New Roman" panose="02020603050405020304" pitchFamily="18" charset="0"/>
                <a:ea typeface="Carlito"/>
                <a:cs typeface="Times New Roman" panose="02020603050405020304" pitchFamily="18" charset="0"/>
              </a:rPr>
              <a:t> D. The utility of deep learning: evaluation of a convolutional neural network for detection of intracranial bleeds on non-contrast head computed tomography studies. Proc. SPIE 10949, Medical Imaging. 2019; Image Processing, 109493J. 10.1117/12.2513167 [</a:t>
            </a:r>
            <a:r>
              <a:rPr lang="en-US" sz="1800" dirty="0" err="1">
                <a:effectLst/>
                <a:latin typeface="Times New Roman" panose="02020603050405020304" pitchFamily="18" charset="0"/>
                <a:ea typeface="Carlito"/>
                <a:cs typeface="Times New Roman" panose="02020603050405020304" pitchFamily="18" charset="0"/>
              </a:rPr>
              <a:t>CrossRef</a:t>
            </a:r>
            <a:r>
              <a:rPr lang="en-US" sz="1800" dirty="0">
                <a:effectLst/>
                <a:latin typeface="Times New Roman" panose="02020603050405020304" pitchFamily="18" charset="0"/>
                <a:ea typeface="Carlito"/>
                <a:cs typeface="Times New Roman" panose="02020603050405020304" pitchFamily="18" charset="0"/>
              </a:rPr>
              <a:t>] [Google Scholar]</a:t>
            </a:r>
            <a:endParaRPr lang="en-IN" sz="1800" dirty="0">
              <a:effectLst/>
              <a:latin typeface="Times New Roman" panose="02020603050405020304" pitchFamily="18" charset="0"/>
              <a:ea typeface="Carlito"/>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buSzPts val="1200"/>
              <a:buFont typeface="Times New Roman" panose="02020603050405020304" pitchFamily="18" charset="0"/>
              <a:buAutoNum type="arabicPeriod"/>
            </a:pPr>
            <a:r>
              <a:rPr lang="en-US" sz="1800" dirty="0" err="1">
                <a:effectLst/>
                <a:latin typeface="Times New Roman" panose="02020603050405020304" pitchFamily="18" charset="0"/>
                <a:ea typeface="Carlito"/>
                <a:cs typeface="Times New Roman" panose="02020603050405020304" pitchFamily="18" charset="0"/>
              </a:rPr>
              <a:t>Chilamkurthy</a:t>
            </a:r>
            <a:r>
              <a:rPr lang="en-US" sz="1800" dirty="0">
                <a:effectLst/>
                <a:latin typeface="Times New Roman" panose="02020603050405020304" pitchFamily="18" charset="0"/>
                <a:ea typeface="Carlito"/>
                <a:cs typeface="Times New Roman" panose="02020603050405020304" pitchFamily="18" charset="0"/>
              </a:rPr>
              <a:t>, S. et al. Deep learning algorithms for detection of critical findings in head CT scans: A retrospective study. Lancet 392, 2388–2396. https://doi.org/10.1016/s0140-6736(18)31645-3 (2018).</a:t>
            </a:r>
            <a:endParaRPr lang="en-IN" sz="1800" dirty="0">
              <a:effectLst/>
              <a:latin typeface="Times New Roman" panose="02020603050405020304" pitchFamily="18" charset="0"/>
              <a:ea typeface="Carlito"/>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buSzPts val="1200"/>
              <a:buFont typeface="Times New Roman" panose="02020603050405020304" pitchFamily="18" charset="0"/>
              <a:buAutoNum type="arabicPeriod"/>
            </a:pPr>
            <a:r>
              <a:rPr lang="en-US" sz="1800" u="sng" dirty="0">
                <a:solidFill>
                  <a:srgbClr val="0000FF"/>
                </a:solidFill>
                <a:effectLst/>
                <a:latin typeface="Carlito"/>
                <a:ea typeface="Carlito"/>
                <a:cs typeface="Carlito"/>
                <a:hlinkClick r:id="rId2"/>
              </a:rPr>
              <a:t>https://www.mdpi.com/2075-4418/13/4/652</a:t>
            </a:r>
            <a:endParaRPr lang="en-IN" sz="1800" dirty="0">
              <a:effectLst/>
              <a:latin typeface="Carlito"/>
              <a:ea typeface="Carlito"/>
              <a:cs typeface="Carlito"/>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buSzPts val="1200"/>
              <a:buFont typeface="Times New Roman" panose="02020603050405020304" pitchFamily="18" charset="0"/>
              <a:buAutoNum type="arabicPeriod"/>
            </a:pPr>
            <a:r>
              <a:rPr lang="en-US" sz="1800" u="sng" dirty="0">
                <a:solidFill>
                  <a:srgbClr val="0000FF"/>
                </a:solidFill>
                <a:effectLst/>
                <a:latin typeface="Carlito"/>
                <a:ea typeface="Carlito"/>
                <a:cs typeface="Carlito"/>
                <a:hlinkClick r:id="rId3"/>
              </a:rPr>
              <a:t>https://journals.plos.org/plosone/article?id=10.1371/journal.pone.0260560</a:t>
            </a:r>
            <a:endParaRPr lang="en-IN" sz="1800" dirty="0">
              <a:effectLst/>
              <a:latin typeface="Carlito"/>
              <a:ea typeface="Carlito"/>
              <a:cs typeface="Carlito"/>
            </a:endParaRPr>
          </a:p>
          <a:p>
            <a:pPr marL="533400" indent="-229870"/>
            <a:r>
              <a:rPr lang="en-US" sz="1800" dirty="0">
                <a:effectLst/>
                <a:latin typeface="Times New Roman" panose="02020603050405020304" pitchFamily="18" charset="0"/>
                <a:ea typeface="Times New Roman" panose="02020603050405020304" pitchFamily="18" charset="0"/>
                <a:cs typeface="Carlito"/>
              </a:rPr>
              <a:t> </a:t>
            </a:r>
            <a:endParaRPr lang="en-IN" sz="1800" dirty="0">
              <a:effectLst/>
              <a:latin typeface="Carlito"/>
              <a:ea typeface="Carlito"/>
              <a:cs typeface="Carl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304800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11413</TotalTime>
  <Words>1441</Words>
  <Application>Microsoft Office PowerPoint</Application>
  <PresentationFormat>On-screen Show (4:3)</PresentationFormat>
  <Paragraphs>115</Paragraphs>
  <Slides>20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Black</vt:lpstr>
      <vt:lpstr>Bookman Old Style</vt:lpstr>
      <vt:lpstr>Calibri</vt:lpstr>
      <vt:lpstr>Carlito</vt:lpstr>
      <vt:lpstr>StarSymbol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KARTHIK GOUD</cp:lastModifiedBy>
  <cp:revision>727</cp:revision>
  <dcterms:modified xsi:type="dcterms:W3CDTF">2023-11-01T06:33:16Z</dcterms:modified>
</cp:coreProperties>
</file>